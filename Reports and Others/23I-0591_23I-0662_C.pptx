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A6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B07-47AA-83E8-965EA09DC62A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07-47AA-83E8-965EA09DC6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 0
(Wrong)</c:v>
                </c:pt>
                <c:pt idx="1">
                  <c:v>Class 1
(Correct)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14658</c:v>
                </c:pt>
                <c:pt idx="1">
                  <c:v>4886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07-47AA-83E8-965EA09DC6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208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74C6-6E84-6B89-FAF1-50F2AF64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C03AE-DD49-3AB8-A7CC-0291E2038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D28B6-5D99-8F85-3809-0F7D65965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27E15-D508-2BDE-1C28-FAE348F8F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44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" y="0"/>
            <a:ext cx="3910874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PK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3662517A-20C4-0011-9B34-A9518023725D}"/>
              </a:ext>
            </a:extLst>
          </p:cNvPr>
          <p:cNvSpPr/>
          <p:nvPr/>
        </p:nvSpPr>
        <p:spPr>
          <a:xfrm>
            <a:off x="0" y="50546"/>
            <a:ext cx="3837722" cy="116103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12" y="173863"/>
            <a:ext cx="914400" cy="91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347472" y="16002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Quiz</a:t>
            </a:r>
            <a:endParaRPr lang="en-US" sz="3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961388" y="319125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Reading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0" y="4055364"/>
            <a:ext cx="383772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41605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60520" y="960120"/>
            <a:ext cx="45720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4160520" y="11155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349240" y="11155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AL2002 — Artificial Intelligence Lab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60520" y="16459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49240" y="16459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Reading Comprehension Corpus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60520" y="21762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349240" y="21762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60520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60520" y="288036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4160520" y="2880360"/>
            <a:ext cx="21488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299008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27448" y="29626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Rauf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270248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23I-0591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270248" y="36667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 -  AL2002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492240" y="288036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1"/>
          <p:cNvSpPr/>
          <p:nvPr/>
        </p:nvSpPr>
        <p:spPr>
          <a:xfrm>
            <a:off x="6492240" y="2880360"/>
            <a:ext cx="21488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990088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59168" y="29626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Umair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601968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23I-0662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601968" y="36667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 -  AL2002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 / 16</a:t>
            </a:r>
            <a:endParaRPr lang="en-US" sz="90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DDFC8531-7ED9-B622-897F-7C06512E0167}"/>
              </a:ext>
            </a:extLst>
          </p:cNvPr>
          <p:cNvSpPr/>
          <p:nvPr/>
        </p:nvSpPr>
        <p:spPr>
          <a:xfrm>
            <a:off x="3910874" y="21372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365760"/>
            <a:ext cx="2286000" cy="2286000"/>
          </a:xfrm>
          <a:prstGeom prst="ellipse">
            <a:avLst/>
          </a:prstGeom>
          <a:solidFill>
            <a:srgbClr val="E0F2FE">
              <a:alpha val="45000"/>
            </a:srgbClr>
          </a:solidFill>
          <a:ln w="12700">
            <a:solidFill>
              <a:srgbClr val="E0F2F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9319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43891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14813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76272"/>
            <a:ext cx="39319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43891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176272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235915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RACE Corpus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054096"/>
            <a:ext cx="39319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43891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02920" y="3054096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323697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9319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43891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411480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298448"/>
            <a:ext cx="39319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438912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754880" y="1298448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330952" y="14813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176272"/>
            <a:ext cx="39319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4754880" y="2176272"/>
            <a:ext cx="438912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754880" y="2176272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330952" y="235915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Training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3054096"/>
            <a:ext cx="39319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754880" y="3054096"/>
            <a:ext cx="438912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754880" y="3054096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330952" y="323697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931920"/>
            <a:ext cx="393192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754880" y="3931920"/>
            <a:ext cx="438912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754880" y="39319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08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330952" y="411480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Demo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AI system for reading comprehension: it reads English passages, predicts correct multiple-choice answers, generates smart distractors, provides contextual hints, and delivers everything through a polished interactive Streamlit web app.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6265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292608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correct answers from 4-choice MCQs  (Model A)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3814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" y="3401568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distractors &amp; contextual hints  (Model B)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9136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8408" y="387705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 with Plotly analytics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389120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8408" y="435254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via Macro F1, Accuracy &amp; Exact Match metrics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0" y="1207008"/>
            <a:ext cx="32918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2"/>
          <p:cNvSpPr/>
          <p:nvPr/>
        </p:nvSpPr>
        <p:spPr>
          <a:xfrm>
            <a:off x="5486400" y="1207008"/>
            <a:ext cx="32918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3"/>
          <p:cNvSpPr/>
          <p:nvPr/>
        </p:nvSpPr>
        <p:spPr>
          <a:xfrm>
            <a:off x="5486400" y="12984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623560" y="1810512"/>
            <a:ext cx="3017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5623560" y="183794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28K+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629400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in RACE dataset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623560" y="2432304"/>
            <a:ext cx="3017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18"/>
          <p:cNvSpPr/>
          <p:nvPr/>
        </p:nvSpPr>
        <p:spPr>
          <a:xfrm>
            <a:off x="5623560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6629400" y="2523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MCQ questions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623560" y="3054096"/>
            <a:ext cx="3017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1"/>
          <p:cNvSpPr/>
          <p:nvPr/>
        </p:nvSpPr>
        <p:spPr>
          <a:xfrm>
            <a:off x="5623560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19,544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629400" y="31455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option rows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623560" y="3675888"/>
            <a:ext cx="3017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4"/>
          <p:cNvSpPr/>
          <p:nvPr/>
        </p:nvSpPr>
        <p:spPr>
          <a:xfrm>
            <a:off x="5623560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73,633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6629400" y="37673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vocabulary size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23560" y="4297680"/>
            <a:ext cx="30175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27"/>
          <p:cNvSpPr/>
          <p:nvPr/>
        </p:nvSpPr>
        <p:spPr>
          <a:xfrm>
            <a:off x="5623560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6629400" y="4389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benchmarked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  <p:transition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RACE Reading Comprehension Corpus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57200"/>
            <a:ext cx="56692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261872"/>
            <a:ext cx="2697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502920" y="1261872"/>
            <a:ext cx="26974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621792" y="137160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Scale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1792" y="1810512"/>
            <a:ext cx="248716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is a large-scale benchmark from English reading tests used by Chinese middle and high school students (grades 6–12). Contains 28,000+ passages and ~100,000 questions across two difficulty levels.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74136" y="1261872"/>
            <a:ext cx="2697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374136" y="1261872"/>
            <a:ext cx="26974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3493008" y="137160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93008" y="1810512"/>
            <a:ext cx="248716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contains: a Passage (article), a Question, four Answer options (A / B / C / D), and the Correct Answer label. Split into Train, Validation, and Test CSV files.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45352" y="1261872"/>
            <a:ext cx="2697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245352" y="1261872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64224" y="137160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RACE?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64224" y="1810512"/>
            <a:ext cx="248716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genuine reading comprehension — not keyword matching. Wide topic and difficulty range. A well-established NLP benchmark, making it ideal for evaluating TF-IDF and ML-based systems.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3840480"/>
            <a:ext cx="82296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502920" y="39136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~27,933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02920" y="4270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44988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167128" y="39136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4,886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2167128" y="4270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167128" y="44988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831336" y="39136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~4,934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831336" y="4270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831336" y="44988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95544" y="39136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row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5495544" y="4270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 C 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495544" y="44988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159752" y="39136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159752" y="4270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class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159752" y="44988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5720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2618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(Validation Set)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627632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 class imbalance — SMOTE oversampling applied during training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892040" y="1261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892040" y="169164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4892040" y="1691640"/>
            <a:ext cx="54864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0"/>
          <p:cNvSpPr/>
          <p:nvPr/>
        </p:nvSpPr>
        <p:spPr>
          <a:xfrm>
            <a:off x="5029200" y="1728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Length: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19568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~340 words. High school articles are longer than middle school passages on average.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92040" y="229514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4892040" y="2295144"/>
            <a:ext cx="54864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4"/>
          <p:cNvSpPr/>
          <p:nvPr/>
        </p:nvSpPr>
        <p:spPr>
          <a:xfrm>
            <a:off x="5029200" y="23317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Types: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2560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factual recall, ~25% inference, ~15% vocabulary-based questions.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892040" y="2898648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4892040" y="2898648"/>
            <a:ext cx="54864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5029200" y="29352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Length: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31638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are slightly longer on average — more descriptive phrasing.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892040" y="350215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1"/>
          <p:cNvSpPr/>
          <p:nvPr/>
        </p:nvSpPr>
        <p:spPr>
          <a:xfrm>
            <a:off x="4892040" y="3502152"/>
            <a:ext cx="54864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2"/>
          <p:cNvSpPr/>
          <p:nvPr/>
        </p:nvSpPr>
        <p:spPr>
          <a:xfrm>
            <a:off x="5029200" y="353872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Distribution: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02920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B : C : D roughly equal — no letter position bias observed.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892040" y="410565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5"/>
          <p:cNvSpPr/>
          <p:nvPr/>
        </p:nvSpPr>
        <p:spPr>
          <a:xfrm>
            <a:off x="4892040" y="4105656"/>
            <a:ext cx="54864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6"/>
          <p:cNvSpPr/>
          <p:nvPr/>
        </p:nvSpPr>
        <p:spPr>
          <a:xfrm>
            <a:off x="5029200" y="414223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Coverage: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029200" y="4370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73,633 unique tokens in Word2Vec; 99.87% of answer tokens covered.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  <p:transition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Feature Engineering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4041648" cy="144348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404164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12648" y="129616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" y="1344168"/>
            <a:ext cx="3822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× Inverse Document Frequency weighted matrix. Max 8,000 vocabulary terms with bigrams (1–2 ngrams). Captures rarer but important words.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18888" y="1261872"/>
            <a:ext cx="4041648" cy="1443482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4818888" y="1261872"/>
            <a:ext cx="404164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910328" y="132715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28616" y="1321943"/>
            <a:ext cx="3822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angle between TF-IDF vectors of article and option. Captures semantic overlap independently of document length. Used as a key discriminating feature.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824226"/>
            <a:ext cx="4041648" cy="144348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02920" y="2834005"/>
            <a:ext cx="404164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12648" y="288366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" y="2931160"/>
            <a:ext cx="3822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bag-of-words with 10,000 features. Article doubled in combined text (article+article+question+option) to amplify passage weight over short option strings.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18888" y="2805938"/>
            <a:ext cx="4041648" cy="146177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818888" y="2813812"/>
            <a:ext cx="404164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910328" y="291363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Embeddings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46904" y="2984246"/>
            <a:ext cx="3822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100-dimensional dense vectors trained on full RACE corpus. Used for nearest-neighbour distractor generation and semantic clustering (K-Means / GMM).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386580"/>
            <a:ext cx="7726680" cy="706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Insight: Cosine similarity between article and correct option (mean 0.31) is consistently higher than distractors (mean 0.18) — the single strongest discriminating signal for Logistic Regression.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  <p:transition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57200"/>
            <a:ext cx="56692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371600"/>
            <a:ext cx="42062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50292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42416" y="1353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42416" y="1609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train / val / test from RACE CSV files. Drop NaN rows. (Train ~27K, Val 4,886, Test ~4,934 rows)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2286000"/>
            <a:ext cx="42062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50292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42416" y="2267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42416" y="25237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punctuation, collapse whitespace — applied to article, question and all four option columns.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200400"/>
            <a:ext cx="42062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50292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42416" y="31821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Row Expansion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42416" y="34381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→ 4 rows (one per option). label=1 if option equals correct answer, else 0. Preserves 25% balance.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4114800"/>
            <a:ext cx="42062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50292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42416" y="4096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42416" y="43525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(10K features, ngram 1–1) and TF-IDF (8K, ngram 1–2). Fit on train only; transform all splits.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00600" y="1371600"/>
            <a:ext cx="420624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480060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340096" y="13533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Features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340096" y="1609344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cosine distances: article↔option, question↔option, article↔question — computed in a batch matrix, no loops.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00600" y="2286000"/>
            <a:ext cx="420624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480060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340096" y="22677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340096" y="2523744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to handle 3:1 class imbalance. Falls back to random oversampling if unavailable.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800600" y="3200400"/>
            <a:ext cx="420624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480060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340096" y="31821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Artefacts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340096" y="3438144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matrices + fitted vectorisers saved as .pkl via joblib for fast reloading in training and inference.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— Why Logistic Regression Won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0685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02920" y="1156716"/>
            <a:ext cx="822960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94360" y="11932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11932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 (Primary)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1932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11932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595628"/>
            <a:ext cx="8229600" cy="493776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595628"/>
            <a:ext cx="73152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58368" y="16870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[BEST]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16870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0.5039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0" y="16870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16870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107692"/>
            <a:ext cx="8229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58368" y="21991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(LinearSVC)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21991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0.3967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35040" y="21991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39.9%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21991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619756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58368" y="27111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86200" y="27111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35040" y="27111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7111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131820"/>
            <a:ext cx="8229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58368" y="32232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6200" y="32232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0.4290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35040" y="32232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2232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3643884"/>
            <a:ext cx="8229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58368" y="37353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86200" y="37353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0.2495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35040" y="37353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06640" y="37353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4096512"/>
            <a:ext cx="8229600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58368" y="42473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Soft Vote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86200" y="42473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0.5019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035040" y="42473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06640" y="42473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463143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Macro F1 handles class imbalance. LR achieved 0.5039 — highest of all 8 classifiers. Random Forest had highest accuracy (75%) but near-zero F1 for class 1 — it simply predicts the majority class.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  <p:transition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Answer Prediction Training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Binary Classification on RACE MCQ Options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82496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58368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(10K) + TF-IDF (8K) + 3 cosine similarity features = ~18,003 total features per row.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58368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8163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~27,933 articles × 4 options = ~111,732 rows. SMOTE applied to balance 3:1 class ratio.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58368" y="33649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36210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with L2 regularisation (C=1.0). Trained on the concatenated feature matrix.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096512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58368" y="41696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Tried: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" y="44256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Voting, Hard Voting, Stacking (LR meta) all tested — solo LR won on Macro F1.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66360" y="166420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66360" y="2084832"/>
            <a:ext cx="361188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166360" y="20848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66360" y="2450592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66360" y="2560320"/>
            <a:ext cx="361188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166360" y="2560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Expand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66360" y="2926080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66360" y="3035808"/>
            <a:ext cx="361188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5166360" y="30358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66360" y="3401568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66360" y="3511296"/>
            <a:ext cx="361188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5166360" y="35112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66360" y="3877056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</a:rPr>
              <a:t>▼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66360" y="3986784"/>
            <a:ext cx="361188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5166360" y="39867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Training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66360" y="4352544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</a:rPr>
              <a:t>▼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66360" y="4462272"/>
            <a:ext cx="361188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5166360" y="4462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.pkl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  <p:transition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Distractor &amp; Hint Generator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697480" cy="3584448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26974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30936" y="134416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Ranker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" y="1947672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18388" y="175564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classifier on One-Hot + cosine features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" y="2633472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18388" y="24734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distractor candidates per question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" y="3319272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18388" y="30449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Precision@1/3/5 = 1.000 on validation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" y="4005072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18388" y="377879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distractor_ranker.pkl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1234440"/>
            <a:ext cx="2697480" cy="358444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383280" y="123444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511296" y="134416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Scorer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11296" y="1947672"/>
            <a:ext cx="731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666744" y="168478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article into individual sentences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11296" y="2633472"/>
            <a:ext cx="731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3666744" y="237058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initial ranking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11296" y="3319272"/>
            <a:ext cx="731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666744" y="305638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scorer (LR) refines the final order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511296" y="4005072"/>
            <a:ext cx="731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3666744" y="374218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hint_scorer.pkl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1219926"/>
            <a:ext cx="2697480" cy="3584448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6263640" y="123444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6391656" y="134416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Model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91656" y="1947672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592824" y="176428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100-dim vectors trained on RACE corpus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91656" y="2633472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592824" y="237058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73,633-word vocabulary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91656" y="3319272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592824" y="313588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distractor generation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91656" y="4005072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592824" y="3700889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token coverage: 99.87%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 B components are loaded at runtime via inference.py and exposed through the Streamlit dashboard.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Evaluation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Validation Set (4,886 questions · 19,544 option rows)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19202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87752" y="1664208"/>
            <a:ext cx="19202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2587752" y="1664208"/>
            <a:ext cx="1920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2587752" y="17922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87752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87752" y="2834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72584" y="1664208"/>
            <a:ext cx="19202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672584" y="1664208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672584" y="17922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72584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72584" y="2834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Qs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57416" y="1664208"/>
            <a:ext cx="19202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6757416" y="1664208"/>
            <a:ext cx="1920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757416" y="17922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0.3023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757416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Class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57416" y="2834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246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21024"/>
          <a:ext cx="3977640" cy="123444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DD3FC"/>
                          </a:solidFill>
                        </a:rPr>
                        <a:t>Pred 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DD3FC"/>
                          </a:solidFill>
                        </a:rPr>
                        <a:t>Pred 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Actual 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9,694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4,964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Actual 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3,132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1,754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489204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Interpretation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902200" y="3604768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5074920" y="34452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best balances precision &amp; recall on both classes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892040" y="3908044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1"/>
          <p:cNvSpPr/>
          <p:nvPr/>
        </p:nvSpPr>
        <p:spPr>
          <a:xfrm>
            <a:off x="5074920" y="37383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0.50; model learns, but near random baseline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892040" y="4211320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3"/>
          <p:cNvSpPr/>
          <p:nvPr/>
        </p:nvSpPr>
        <p:spPr>
          <a:xfrm>
            <a:off x="5074920" y="4041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requires multi-sentence reasoning, hard for TF-IDF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892040" y="4563872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5"/>
          <p:cNvSpPr/>
          <p:nvPr/>
        </p:nvSpPr>
        <p:spPr>
          <a:xfrm>
            <a:off x="5074920" y="44150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23.3% vs 25% random; room for improvement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 / 16</a:t>
            </a:r>
            <a:endParaRPr lang="en-US" sz="900" dirty="0"/>
          </a:p>
        </p:txBody>
      </p:sp>
    </p:spTree>
  </p:cSld>
  <p:clrMapOvr>
    <a:masterClrMapping/>
  </p:clrMapOvr>
  <p:transition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Evaluation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Ranker achieved perfect scores — Word2Vec vocabulary coverage 99.87%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15727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157276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67128" y="1645920"/>
            <a:ext cx="15727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167128" y="1645920"/>
            <a:ext cx="157276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167128" y="175564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67128" y="2423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31336" y="1645920"/>
            <a:ext cx="15727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3831336" y="1645920"/>
            <a:ext cx="157276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831336" y="175564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31336" y="2423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95544" y="1645920"/>
            <a:ext cx="15727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495544" y="1645920"/>
            <a:ext cx="157276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495544" y="175564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95544" y="2423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59752" y="1645920"/>
            <a:ext cx="15727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7159752" y="1645920"/>
            <a:ext cx="157276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7159752" y="175564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99.87%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59752" y="24231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W2V Coverage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090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Nearest-Neighbour Sanity Check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3493008"/>
            <a:ext cx="8138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30" name="Text 28"/>
          <p:cNvSpPr/>
          <p:nvPr/>
        </p:nvSpPr>
        <p:spPr>
          <a:xfrm>
            <a:off x="685800" y="3611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 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 students (0.68)   teacher (0.61)   graduate (0.61)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40325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   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 schools (0.67)    class (0.67)     kindergarten (0.63)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4531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  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 answers (0.79)    question (0.64)  answered (0.63)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  <p:transition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74749" y="1505712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74749" y="1505712"/>
            <a:ext cx="20116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57" y="1615440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749" y="2164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06469" y="1505712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2406469" y="1505712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277" y="1615440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06469" y="2164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38189" y="1505712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2"/>
          <p:cNvSpPr/>
          <p:nvPr/>
        </p:nvSpPr>
        <p:spPr>
          <a:xfrm>
            <a:off x="4738189" y="1505712"/>
            <a:ext cx="201168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7997" y="1615440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38189" y="2164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+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069909" y="1505712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5"/>
          <p:cNvSpPr/>
          <p:nvPr/>
        </p:nvSpPr>
        <p:spPr>
          <a:xfrm>
            <a:off x="7069909" y="1505712"/>
            <a:ext cx="20116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9717" y="1615440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9909" y="2164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086429" y="2145792"/>
            <a:ext cx="338328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18"/>
          <p:cNvSpPr/>
          <p:nvPr/>
        </p:nvSpPr>
        <p:spPr>
          <a:xfrm>
            <a:off x="2360749" y="19994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&gt;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418149" y="2145792"/>
            <a:ext cx="338328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0"/>
          <p:cNvSpPr/>
          <p:nvPr/>
        </p:nvSpPr>
        <p:spPr>
          <a:xfrm>
            <a:off x="4692469" y="19994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&gt;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749869" y="2145792"/>
            <a:ext cx="338328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2"/>
          <p:cNvSpPr/>
          <p:nvPr/>
        </p:nvSpPr>
        <p:spPr>
          <a:xfrm>
            <a:off x="7024189" y="19994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&gt;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02920" y="3035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Application Screens  (spec 9.2)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02920" y="3493008"/>
            <a:ext cx="40416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5"/>
          <p:cNvSpPr/>
          <p:nvPr/>
        </p:nvSpPr>
        <p:spPr>
          <a:xfrm>
            <a:off x="502920" y="3493008"/>
            <a:ext cx="38404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6"/>
          <p:cNvSpPr/>
          <p:nvPr/>
        </p:nvSpPr>
        <p:spPr>
          <a:xfrm>
            <a:off x="502920" y="349300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1005840" y="3529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Input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1005840" y="3822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Upload/paste passage, or pick a random RACE sample for instant demo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818888" y="3493008"/>
            <a:ext cx="40416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0"/>
          <p:cNvSpPr/>
          <p:nvPr/>
        </p:nvSpPr>
        <p:spPr>
          <a:xfrm>
            <a:off x="4818888" y="3493008"/>
            <a:ext cx="38404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1"/>
          <p:cNvSpPr/>
          <p:nvPr/>
        </p:nvSpPr>
        <p:spPr>
          <a:xfrm>
            <a:off x="4818888" y="349300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5321808" y="3529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View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5321808" y="3822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4-option MCQ with confidence scores and correct answer reveal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502920" y="4224528"/>
            <a:ext cx="40416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Shape 35"/>
          <p:cNvSpPr/>
          <p:nvPr/>
        </p:nvSpPr>
        <p:spPr>
          <a:xfrm>
            <a:off x="502920" y="4224528"/>
            <a:ext cx="38404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36"/>
          <p:cNvSpPr/>
          <p:nvPr/>
        </p:nvSpPr>
        <p:spPr>
          <a:xfrm>
            <a:off x="502920" y="422452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1005840" y="4261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Panel</a:t>
            </a:r>
            <a:endParaRPr lang="en-US" sz="1250" dirty="0"/>
          </a:p>
        </p:txBody>
      </p:sp>
      <p:sp>
        <p:nvSpPr>
          <p:cNvPr id="44" name="Text 38"/>
          <p:cNvSpPr/>
          <p:nvPr/>
        </p:nvSpPr>
        <p:spPr>
          <a:xfrm>
            <a:off x="1005840" y="4553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extractive hints highlighted in the original passage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4818888" y="4224528"/>
            <a:ext cx="40416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6" name="Shape 40"/>
          <p:cNvSpPr/>
          <p:nvPr/>
        </p:nvSpPr>
        <p:spPr>
          <a:xfrm>
            <a:off x="4818888" y="4224528"/>
            <a:ext cx="38404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1"/>
          <p:cNvSpPr/>
          <p:nvPr/>
        </p:nvSpPr>
        <p:spPr>
          <a:xfrm>
            <a:off x="4818888" y="422452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5321808" y="4261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Board</a:t>
            </a:r>
            <a:endParaRPr lang="en-US" sz="1250" dirty="0"/>
          </a:p>
        </p:txBody>
      </p:sp>
      <p:sp>
        <p:nvSpPr>
          <p:cNvPr id="49" name="Text 43"/>
          <p:cNvSpPr/>
          <p:nvPr/>
        </p:nvSpPr>
        <p:spPr>
          <a:xfrm>
            <a:off x="5321808" y="4553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charts: session history, confusion matrix, inference latency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551D2-9A8A-A2D3-1C7F-169E7852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8B6D56C3-BBCC-1934-10DD-1141F1217125}"/>
              </a:ext>
            </a:extLst>
          </p:cNvPr>
          <p:cNvSpPr/>
          <p:nvPr/>
        </p:nvSpPr>
        <p:spPr>
          <a:xfrm>
            <a:off x="502920" y="210312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01FB54-D846-BE9B-728C-F91BE95E7227}"/>
              </a:ext>
            </a:extLst>
          </p:cNvPr>
          <p:cNvSpPr/>
          <p:nvPr/>
        </p:nvSpPr>
        <p:spPr>
          <a:xfrm>
            <a:off x="685800" y="14630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UI Snapshots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4AE6F8-A35A-6236-255B-FC86C3FDAC76}"/>
              </a:ext>
            </a:extLst>
          </p:cNvPr>
          <p:cNvSpPr/>
          <p:nvPr/>
        </p:nvSpPr>
        <p:spPr>
          <a:xfrm>
            <a:off x="502920" y="83210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6F4E3FA0-9A55-B63C-E978-4B0FD2D34C7E}"/>
              </a:ext>
            </a:extLst>
          </p:cNvPr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 / 16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F771AA6-D7B1-02E8-8255-E54F8690A6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1" y="3076687"/>
            <a:ext cx="4196872" cy="198451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A47DFCD-2F83-3EAE-DDAE-38526D91E6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731" y="3076686"/>
            <a:ext cx="4243603" cy="198451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E68AD98-6DFE-ABBB-BBA9-1DE99E3476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730" y="1021341"/>
            <a:ext cx="4243603" cy="198028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68F1C29-D061-E8DB-BA64-245C87EDAE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021341"/>
            <a:ext cx="4196872" cy="198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69316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BAE6FD">
              <a:alpha val="30000"/>
            </a:srgbClr>
          </a:solidFill>
          <a:ln w="12700">
            <a:solidFill>
              <a:srgbClr val="BAE6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Streamlit UI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Deep-sea Glassmorphism theme  .  Teal/Emerald palette  .  Plotly interactive charts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40416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773936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1288" y="17556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Theme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61288" y="210312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navy/teal glassmorphism. Fraunces + Syne + JetBrains Mono fonts. Animated radial gradient background mesh effect.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18888" y="1664208"/>
            <a:ext cx="40416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1773936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7256" y="17556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77256" y="210312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gauge, bar and scatter charts. Real-time session tracking. Confusion matrix visualisation. Inference latency monitor.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2798064"/>
            <a:ext cx="40416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907792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61288" y="288950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61288" y="3236976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UI — each request calls inference.py directly. LRU-cached pipeline. Cold start 1.2s, cached 0.1s.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18888" y="2798064"/>
            <a:ext cx="40416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2907792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77256" y="288950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Resilience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77256" y="3236976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on OOV terms. Descriptive alerts not generic errors. Empty / invalid input validation with clear guidance.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3931920"/>
            <a:ext cx="40416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" y="4041648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61288" y="40233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Multi-Input Modes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61288" y="4370832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 manually, upload .txt/.pdf files, or click Random RACE Sample for instant demo with a real test question.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818888" y="3931920"/>
            <a:ext cx="40416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6904" y="4041648"/>
            <a:ext cx="420624" cy="42062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77256" y="40233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477256" y="4370832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WCAG-aware contrast ratios. Wide layout. Sidebar hyperparameter sliders for fine-tuning TF-IDF at runtime.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  <p:transition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94360" y="-27432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E0F2FE">
              <a:alpha val="55000"/>
            </a:srgbClr>
          </a:solidFill>
          <a:ln w="12700">
            <a:solidFill>
              <a:srgbClr val="E0F2F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164592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8404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13232" y="1078992"/>
            <a:ext cx="68580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5"/>
          <p:cNvSpPr/>
          <p:nvPr/>
        </p:nvSpPr>
        <p:spPr>
          <a:xfrm>
            <a:off x="713232" y="1207008"/>
            <a:ext cx="8028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713232" y="1207008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896112" y="1316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12848" y="131673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; best Macro F1 = 0.5039, outperforming all 7 other classifiers on primary metric.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" y="1956816"/>
            <a:ext cx="8028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713232" y="1956816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896112" y="20665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12848" y="206654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Ranker achieved perfect F1 = 1.000 and Precision@3 = 1.000 on the validation set.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" y="2706624"/>
            <a:ext cx="8028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713232" y="2706624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96112" y="2816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212848" y="281635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100-dim vectors trained on 73K+ RACE tokens. 99.87% answer vocabulary coverage.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3232" y="3456432"/>
            <a:ext cx="8028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713232" y="3456432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896112" y="35661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212848" y="35661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4-screen web app: Article Input, Quiz View, Hint Panel, Analytics Dashboard.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13232" y="4206240"/>
            <a:ext cx="8028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2"/>
          <p:cNvSpPr/>
          <p:nvPr/>
        </p:nvSpPr>
        <p:spPr>
          <a:xfrm>
            <a:off x="713232" y="4206240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3"/>
          <p:cNvSpPr/>
          <p:nvPr/>
        </p:nvSpPr>
        <p:spPr>
          <a:xfrm>
            <a:off x="896112" y="4315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Difficulty: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212848" y="431596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comprehension requires multi-sentence reasoning; TF-IDF is a strong but limited baseline.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15 / 16</a:t>
            </a:r>
            <a:endParaRPr lang="en-US" sz="9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A4A8020F-FF09-EAE3-E9AA-C0BDD5CCB8C7}"/>
              </a:ext>
            </a:extLst>
          </p:cNvPr>
          <p:cNvSpPr/>
          <p:nvPr/>
        </p:nvSpPr>
        <p:spPr>
          <a:xfrm rot="5400000">
            <a:off x="-2290445" y="2295271"/>
            <a:ext cx="5143500" cy="55295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5">
            <a:extLst>
              <a:ext uri="{FF2B5EF4-FFF2-40B4-BE49-F238E27FC236}">
                <a16:creationId xmlns:a16="http://schemas.microsoft.com/office/drawing/2014/main" id="{438950C5-852B-6187-8B04-9DBEC5F05021}"/>
              </a:ext>
            </a:extLst>
          </p:cNvPr>
          <p:cNvSpPr/>
          <p:nvPr/>
        </p:nvSpPr>
        <p:spPr>
          <a:xfrm>
            <a:off x="97536" y="76200"/>
            <a:ext cx="3630168" cy="1932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320040"/>
            <a:ext cx="1472184" cy="147218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137160" y="1911096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!</a:t>
            </a:r>
            <a:endParaRPr lang="en-US" sz="4200" dirty="0">
              <a:solidFill>
                <a:srgbClr val="00206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371600" y="29306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109728" y="4133088"/>
            <a:ext cx="3630168" cy="8590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4160520" y="64008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60520" y="1042416"/>
            <a:ext cx="45720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4160520" y="1170432"/>
            <a:ext cx="2148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4160520" y="1170432"/>
            <a:ext cx="21488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29844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12984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Rauf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288536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23I-0591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288536" y="2084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 .  AL2002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92240" y="1170432"/>
            <a:ext cx="2148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6492240" y="1170432"/>
            <a:ext cx="21488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29844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86600" y="12984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Umair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620256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23I-0662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620256" y="2084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 .  AL2002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160520" y="2834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AL2002 — Artificial Intelligence Lab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160520" y="3291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303520" y="3291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Reading Comprehension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160520" y="37124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303520" y="37124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; Macro F1: 0.5039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160520" y="41330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B: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303520" y="4133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Ranker ; F1: 1.000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160520" y="4553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303520" y="4553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.  4 Screens  .  Plotly Charts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229600" y="484174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16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1733</Words>
  <Application>Microsoft Office PowerPoint</Application>
  <PresentationFormat>On-screen Show (16:9)</PresentationFormat>
  <Paragraphs>337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RACE Quiz System — AI Project</dc:title>
  <dc:subject>PptxGenJS Presentation</dc:subject>
  <dc:creator>Abdul Rauf &amp; Muhammad Umair</dc:creator>
  <cp:lastModifiedBy>Abdul Rauf</cp:lastModifiedBy>
  <cp:revision>3</cp:revision>
  <dcterms:created xsi:type="dcterms:W3CDTF">2026-05-10T19:18:38Z</dcterms:created>
  <dcterms:modified xsi:type="dcterms:W3CDTF">2026-05-10T20:50:39Z</dcterms:modified>
</cp:coreProperties>
</file>